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explicar que a entrega é uma esteira AML completa, com foco em investigação, explicabilidade e reprodutibilidade.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metodologia amarra todas as tarefas: dados, regras, SAR, ML e multi-agente.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a validação por rail evita comparação injusta entre comportamentos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a EDA não condena ninguém; ela define onde a investigação deve focar.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ranking é uma fila de investigação, não uma lista de crimes provados.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timeline e explicar que o SAR organiza fatos, regras acionadas, contexto e recomendação.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o grafo é uma ferramenta de explicação e investigação, não uma evidência conclusiva isolada.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T2 é a ponte entre EDA, T1 e ML: transforma sinais em regras operacionalizáveis.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geo-salto literal foi adicionado para cobrir uma tipologia citada diretamente no desafio.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label fraco é uma proxy e as métricas altas são esperadas por esse desenho.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SHAP/feature importance como explicação do porquê do score, não como prova de ilícito.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com o próprio enunciado: agente é papel/prompt específico; não precisava construir sistema complexo.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slide para mostrar que o projeto é reprodutível e navegável, não apenas um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clareza, conservadorismo e capacidade de transformar dados em ação 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Abertura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402336" y="3474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FE3C4"/>
                </a:solidFill>
              </a:rPr>
              <a:t>AML-FT · Generic AML/FT Case Study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02336" y="1216152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Investigação AML-FT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ponta a ponta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20624" y="25146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7"/>
                </a:solidFill>
              </a:rPr>
              <a:t>EDA → regras explicáveis → suspeitos → SAR → ML → multi-agente LLM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0" y="548640"/>
            <a:ext cx="2926080" cy="2926080"/>
          </a:xfrm>
          <a:prstGeom prst="arc">
            <a:avLst/>
          </a:prstGeom>
          <a:solidFill>
            <a:srgbClr val="07111D">
              <a:alpha val="0"/>
            </a:srgbClr>
          </a:solidFill>
          <a:ln w="25400">
            <a:solidFill>
              <a:srgbClr val="00C2FF">
                <a:alpha val="9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800" y="1261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52k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43800" y="1645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transações analisadas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7543800" y="23042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29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543800" y="268833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regras AML após geo-salto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7543800" y="33467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543800" y="373075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agentes LLM sequenciais</a:t>
            </a:r>
            <a:endParaRPr lang="en-US" sz="640" dirty="0"/>
          </a:p>
        </p:txBody>
      </p:sp>
      <p:sp>
        <p:nvSpPr>
          <p:cNvPr id="16" name="Text 14"/>
          <p:cNvSpPr/>
          <p:nvPr/>
        </p:nvSpPr>
        <p:spPr>
          <a:xfrm>
            <a:off x="420624" y="5897880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Author · Junho/2026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Método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Abordagem: da base bruta à ação operacional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O valor está na conexão entre qualidade dos dados, risco AML e explicabilidade.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2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9611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Dados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8696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shape, nulos,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coerência por rail</a:t>
            </a:r>
            <a:endParaRPr lang="en-US" sz="610" dirty="0"/>
          </a:p>
        </p:txBody>
      </p:sp>
      <p:sp>
        <p:nvSpPr>
          <p:cNvPr id="12" name="Shape 10"/>
          <p:cNvSpPr/>
          <p:nvPr/>
        </p:nvSpPr>
        <p:spPr>
          <a:xfrm>
            <a:off x="2368296" y="1773936"/>
            <a:ext cx="274320" cy="0"/>
          </a:xfrm>
          <a:prstGeom prst="line">
            <a:avLst/>
          </a:prstGeom>
          <a:noFill/>
          <a:ln w="16510">
            <a:solidFill>
              <a:srgbClr val="00C2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2FE3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E3C4"/>
                </a:solidFill>
              </a:rPr>
              <a:t>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3639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Alertas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2724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tipologias +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regras auditáveis</a:t>
            </a:r>
            <a:endParaRPr lang="en-US" sz="610" dirty="0"/>
          </a:p>
        </p:txBody>
      </p:sp>
      <p:sp>
        <p:nvSpPr>
          <p:cNvPr id="17" name="Shape 15"/>
          <p:cNvSpPr/>
          <p:nvPr/>
        </p:nvSpPr>
        <p:spPr>
          <a:xfrm>
            <a:off x="4608576" y="1773936"/>
            <a:ext cx="274320" cy="0"/>
          </a:xfrm>
          <a:prstGeom prst="line">
            <a:avLst/>
          </a:prstGeom>
          <a:noFill/>
          <a:ln w="16510">
            <a:solidFill>
              <a:srgbClr val="2FE3C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8348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9B6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DFF"/>
                </a:solidFill>
              </a:rPr>
              <a:t>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7667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Investigação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36752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ranking + entidade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360° + timeline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848856" y="1773936"/>
            <a:ext cx="274320" cy="0"/>
          </a:xfrm>
          <a:prstGeom prst="line">
            <a:avLst/>
          </a:prstGeom>
          <a:noFill/>
          <a:ln w="16510">
            <a:solidFill>
              <a:srgbClr val="9B6D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2376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F5B1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0605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B14C"/>
                </a:solidFill>
              </a:rPr>
              <a:t>4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61695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SAR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0780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narrativa, evidência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e ação recomendada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9089136" y="1773936"/>
            <a:ext cx="274320" cy="0"/>
          </a:xfrm>
          <a:prstGeom prst="line">
            <a:avLst/>
          </a:prstGeom>
          <a:noFill/>
          <a:ln w="16510">
            <a:solidFill>
              <a:srgbClr val="F5B14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64040" y="1371600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0B1726"/>
          </a:solidFill>
          <a:ln w="10160">
            <a:solidFill>
              <a:srgbClr val="FF5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46336" y="1481328"/>
            <a:ext cx="228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E8A"/>
                </a:solidFill>
              </a:rPr>
              <a:t>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857232" y="1444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7FBFF"/>
                </a:solidFill>
              </a:rPr>
              <a:t>ML/LLM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848088" y="17282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priorização +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A9B8C7"/>
                </a:solidFill>
              </a:rPr>
              <a:t>orquestração</a:t>
            </a:r>
            <a:endParaRPr lang="en-US" sz="610" dirty="0"/>
          </a:p>
        </p:txBody>
      </p:sp>
      <p:sp>
        <p:nvSpPr>
          <p:cNvPr id="32" name="Text 30"/>
          <p:cNvSpPr/>
          <p:nvPr/>
        </p:nvSpPr>
        <p:spPr>
          <a:xfrm>
            <a:off x="502920" y="3246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PRINCÍPIO DE DESENHO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502920" y="3520440"/>
            <a:ext cx="44805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primeiro: mais fácil de auditar e explicar.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depois: prioriza a fila, não substitui o analista.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como orquestrador: organiza evidências com revisão humana.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6400800" y="32461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B6DFF"/>
                </a:solidFill>
              </a:rPr>
              <a:t>DECISÃO CENTRAL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6400800" y="3520440"/>
            <a:ext cx="43891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análise evita “caixa-preta”: cada suspeito precisa ter motivo, regra acionada, evidência e recomendação.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Dados e consistência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&amp; coerência por rail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Validação antes da investigação: PIX, Card e Wire têm riscos e campos diferentes.</a:t>
            </a:r>
            <a:endParaRPr lang="en-US" sz="950" dirty="0"/>
          </a:p>
        </p:txBody>
      </p:sp>
      <p:pic>
        <p:nvPicPr>
          <p:cNvPr id="8" name="Image 0" descr="/mnt/data/ppt_assets/rail_volum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049"/>
            <a:ext cx="5303520" cy="287287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29400" y="1261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52.000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29400" y="1645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transações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8229600" y="1261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2.500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0" y="1645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clientes KYC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9829800" y="12618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1.000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829800" y="1645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merchants</a:t>
            </a:r>
            <a:endParaRPr lang="en-US" sz="640" dirty="0"/>
          </a:p>
        </p:txBody>
      </p:sp>
      <p:sp>
        <p:nvSpPr>
          <p:cNvPr id="15" name="Text 12"/>
          <p:cNvSpPr/>
          <p:nvPr/>
        </p:nvSpPr>
        <p:spPr>
          <a:xfrm>
            <a:off x="6629400" y="2514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CHECKS REALIZADOS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6629400" y="2788920"/>
            <a:ext cx="4526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duplicatas críticas e timestamps válidos.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Integridade entre transações, KYC e merchants.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n/a tratados como “não aplicável por rail”.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PIX, Card e Wire avaliados separadamente para reduzir falso positivo.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6629400" y="444398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POR RAIL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629400" y="4727448"/>
            <a:ext cx="43891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PIX: cash-in/cash-out e velocity.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Card: e-commerce, 3DS, MCC e chargeback.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Wire: cross-border, país de risco e sanções.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EDA e sinais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Sinais AML iniciais da EDA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A EDA indicou onde valia aprofundar: sanções, PEP, país de risco, MCC, 3DS e device/IP.</a:t>
            </a:r>
            <a:endParaRPr lang="en-US" sz="950" dirty="0"/>
          </a:p>
        </p:txBody>
      </p:sp>
      <p:pic>
        <p:nvPicPr>
          <p:cNvPr id="8" name="Image 0" descr="/mnt/data/ppt_assets/eda_signal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4722"/>
            <a:ext cx="6309360" cy="36770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3258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LEITURA OPERACIONAL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315200" y="1627632"/>
            <a:ext cx="41148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Sinal isolado é triagem; combinação de sinais é prioridade.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transações com sanctions screening hit.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clientes PEP e 196 KYC High Risk.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sem 3DS e MCC de risco aparecem em volume relevante.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7315200" y="40416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CUIDADO CONSERVADOR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7315200" y="4315968"/>
            <a:ext cx="39776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campo explícito de espécie/cash.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≥ R$50 mil foram tratados como alto valor, não como comunicação automática de espécie.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T1 suspeitos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T1 — ranking de suspeitos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Clientes e transações priorizados por concentração de alertas, materialidade e contexto KYC.</a:t>
            </a:r>
            <a:endParaRPr lang="en-US" sz="950" dirty="0"/>
          </a:p>
        </p:txBody>
      </p:sp>
      <p:pic>
        <p:nvPicPr>
          <p:cNvPr id="8" name="Image 0" descr="/mnt/data/ppt_assets/top_client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98609"/>
            <a:ext cx="5852160" cy="34286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133502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TOP CASOS RANQUEADOS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6903720" y="1627632"/>
            <a:ext cx="448056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C101028 · Crítica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Sanções KYC + PEP + cross-border + e-commerce sem 3DS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C101208 · Crítica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Sanctions tx + Wire/país alto risco + fora de perfil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C100091 · Crítica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 para IR + hit sanções na transação + alto valor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903720" y="43159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ENTREGA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6903720" y="4590288"/>
            <a:ext cx="43891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30 transações + top 30 clientes + SAR draft.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Critério: múltiplos sinais independentes têm mais prioridade do que regra isolada.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· SAR escolhido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 escolhido — C101208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Caso com materialidade, timeline investigável e combinação de sinais transacionais + comportamentais.</a:t>
            </a:r>
            <a:endParaRPr lang="en-US" sz="950" dirty="0"/>
          </a:p>
        </p:txBody>
      </p:sp>
      <p:pic>
        <p:nvPicPr>
          <p:cNvPr id="8" name="Image 0" descr="/mnt/data/ppt_assets/sar_timelin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20107"/>
            <a:ext cx="6217920" cy="31582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05472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R$162k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205472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volume total no período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8705088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34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705088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transações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1019556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20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195560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transações suspeitas</a:t>
            </a:r>
            <a:endParaRPr lang="en-US" sz="640" dirty="0"/>
          </a:p>
        </p:txBody>
      </p:sp>
      <p:sp>
        <p:nvSpPr>
          <p:cNvPr id="15" name="Text 12"/>
          <p:cNvSpPr/>
          <p:nvPr/>
        </p:nvSpPr>
        <p:spPr>
          <a:xfrm>
            <a:off x="7178040" y="267004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SINAIS DO SAR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7178040" y="2944368"/>
            <a:ext cx="43434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Sanctions screening hit em transação Wire.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Receiver em país de alto risco.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Cross-border e alto volume vs. renda declarada.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 não afirma crime: comunica suspeita fundamentada.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685800" y="5824728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 recomendada: revisão EDD/KYC, validação de contraparte/listas e escalonamento para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· Enriquecimento SAR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Visão 360° do SAR: grafo de entidades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Grafo simples conecta cliente, alertas, rails, países e entidades para apoiar revisão humana.</a:t>
            </a:r>
            <a:endParaRPr lang="en-US" sz="950" dirty="0"/>
          </a:p>
        </p:txBody>
      </p:sp>
      <p:pic>
        <p:nvPicPr>
          <p:cNvPr id="8" name="Image 0" descr="/mnt/data/enrich/graph/outputs/t1_suspects/11_sar_entity_graph_C1012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97533"/>
            <a:ext cx="6263640" cy="36537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13258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O QUE O GRAFO ACRESCENTA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7086600" y="1609344"/>
            <a:ext cx="438912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evidências do caso C101208 em uma visão única.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 relações entre cliente, transações, rails, país de risco, sanções e regras mensais.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Ajuda a explicar por que o caso foi priorizado.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86600" y="40690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LIMITE IMPORTANTE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7086600" y="4343400"/>
            <a:ext cx="42976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grafo não prova lavagem de dinheiro. Ele reduz esforço de leitura e melhora a rastreabilidade da decisão.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· T2 motor de regras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T2 — sistema de alertas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29 regras formais: lógica, parâmetros, severidade, exemplo na base, justificativa e ação operacional.</a:t>
            </a:r>
            <a:endParaRPr lang="en-US" sz="950" dirty="0"/>
          </a:p>
        </p:txBody>
      </p:sp>
      <p:pic>
        <p:nvPicPr>
          <p:cNvPr id="8" name="Image 0" descr="/mnt/data/ppt_assets/rule_coverag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5445"/>
            <a:ext cx="5623560" cy="2998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37960" y="13075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29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37960" y="1691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regras formalizadas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8092440" y="13075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17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092440" y="1691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regras transacionais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9646920" y="13075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12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646920" y="1691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cliente-mês</a:t>
            </a:r>
            <a:endParaRPr lang="en-US" sz="640" dirty="0"/>
          </a:p>
        </p:txBody>
      </p:sp>
      <p:sp>
        <p:nvSpPr>
          <p:cNvPr id="15" name="Text 12"/>
          <p:cNvSpPr/>
          <p:nvPr/>
        </p:nvSpPr>
        <p:spPr>
          <a:xfrm>
            <a:off x="6629400" y="25420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EXEMPLOS DE REGRAS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6629400" y="2816352"/>
            <a:ext cx="443484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Sanctions hit e país de alto risco.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com cross-border/valor alto.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incompatível com renda.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sem 3DS + MCC/merchant de risco.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 de passagem: cash-ins/cash-outs, valores redondos e velocity.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6629400" y="48280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MENSAGEM-CHAVE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6629400" y="5102352"/>
            <a:ext cx="4434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alerta é auditável: cada disparo tem motivo, parâmetro e ação sugerida.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· Enriquecimento geo-salto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Regra adicional: geo-salto físico improvável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Tipologia citada no desafio: distância ≥ 500 km em ≤ 12h entre transações consecutivas.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2359152"/>
            <a:ext cx="5577840" cy="0"/>
          </a:xfrm>
          <a:prstGeom prst="line">
            <a:avLst/>
          </a:prstGeom>
          <a:noFill/>
          <a:ln w="10160">
            <a:solidFill>
              <a:srgbClr val="18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30552"/>
            <a:ext cx="457200" cy="457200"/>
          </a:xfrm>
          <a:prstGeom prst="ellipse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30552"/>
            <a:ext cx="457200" cy="457200"/>
          </a:xfrm>
          <a:prstGeom prst="ellipse">
            <a:avLst/>
          </a:prstGeom>
          <a:solidFill>
            <a:srgbClr val="FF5E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359152"/>
            <a:ext cx="5029200" cy="0"/>
          </a:xfrm>
          <a:prstGeom prst="line">
            <a:avLst/>
          </a:prstGeom>
          <a:noFill/>
          <a:ln w="16510">
            <a:solidFill>
              <a:srgbClr val="00C2F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76656" y="27249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Tx 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cliente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44768" y="27249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Tx 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7FBFF"/>
                </a:solidFill>
              </a:rPr>
              <a:t>mesmo cliente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0" y="19019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D166"/>
                </a:solidFill>
              </a:rPr>
              <a:t>≥ 500 km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D166"/>
                </a:solidFill>
              </a:rPr>
              <a:t>≤ 12h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95528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4.247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955280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candidatos literais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9646920" y="13258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E8A"/>
                </a:solidFill>
              </a:rPr>
              <a:t>1.942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646920" y="17099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priorizados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7818120" y="27889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COMO USAR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7818120" y="3063240"/>
            <a:ext cx="365760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Geo-salto entra como sinal contextual, não como bloqueio automático isolado.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regra ganha força quando combinada com IP anomaly, device rooted, país de risco, cross-border ou alto valor.</a:t>
            </a:r>
            <a:endParaRPr lang="en-US" sz="1090" dirty="0"/>
          </a:p>
        </p:txBody>
      </p:sp>
      <p:sp>
        <p:nvSpPr>
          <p:cNvPr id="21" name="Text 19"/>
          <p:cNvSpPr/>
          <p:nvPr/>
        </p:nvSpPr>
        <p:spPr>
          <a:xfrm>
            <a:off x="685800" y="49194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DEFESA TÉCNICA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685800" y="5193792"/>
            <a:ext cx="10332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Geolocalização pode ter ruído. Por isso a regra foi documentada de forma conservadora e usada para priorização de investigação.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T3 ML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T3 — modelo de ML como priorizador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Label fraco baseado em regras: cliente-mês com ≥3 regras acionadas = suspeito.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DESENHO DO MODELO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50292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Unidade de análise: cliente-mês PF.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temporal: treino jul-ago/2025; validação set-out/2025.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Modelo: XGBoost com random_state=42.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cadastrais, transacionais e comparação por profissão.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vender como produção: baseline explicável de priorização.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400800" y="12344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MÉTRICAS DE VALIDAÇÃO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355080" y="1627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0,9416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55080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AUC-PR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7818120" y="1627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6DFF"/>
                </a:solidFill>
              </a:rPr>
              <a:t>0,9970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AUC-ROC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9281160" y="1627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D166"/>
                </a:solidFill>
              </a:rPr>
              <a:t>0,90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281160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threshold sugerido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6675120" y="2880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E3C4"/>
                </a:solidFill>
              </a:rPr>
              <a:t>0,924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75120" y="3264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precision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8138160" y="2880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2FF"/>
                </a:solidFill>
              </a:rPr>
              <a:t>0,772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38160" y="3264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recall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9601200" y="28803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E8A"/>
                </a:solidFill>
              </a:rPr>
              <a:t>0,003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601200" y="3264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A9B8C7"/>
                </a:solidFill>
              </a:rPr>
              <a:t>FPR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914400" y="5815584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correta: resultado é forte para ranking, mas precisa de validação humana/histórica antes de produção.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Explicabilidade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Explicabilidade &amp; corte operacional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A decisão de threshold precisa considerar risco, falso positivo e capacidade do time.</a:t>
            </a:r>
            <a:endParaRPr lang="en-US" sz="950" dirty="0"/>
          </a:p>
        </p:txBody>
      </p:sp>
      <p:pic>
        <p:nvPicPr>
          <p:cNvPr id="8" name="Image 0" descr="/mnt/data/ppt_assets/threshold_tradeoff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2737"/>
            <a:ext cx="5257800" cy="3069525"/>
          </a:xfrm>
          <a:prstGeom prst="rect">
            <a:avLst/>
          </a:prstGeom>
        </p:spPr>
      </p:pic>
      <p:pic>
        <p:nvPicPr>
          <p:cNvPr id="9" name="Image 1" descr="/mnt/data/ppt_assets/sha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54766"/>
            <a:ext cx="4937760" cy="30054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5833872"/>
            <a:ext cx="10515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Mensagem-chave: AML não usa threshold só por métrica; usa por capacidade operacional, apetite de risco e SLA.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T4 Multi-agente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T4 — arquitetura multi-agente LLM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Script sequencial: cada agente é um papel/prompt, com entrada, saída e auditoria.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2331720"/>
            <a:ext cx="9418320" cy="0"/>
          </a:xfrm>
          <a:prstGeom prst="line">
            <a:avLst/>
          </a:prstGeom>
          <a:noFill/>
          <a:ln w="10160">
            <a:solidFill>
              <a:srgbClr val="18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566928" cy="56692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C2FF"/>
                </a:solidFill>
              </a:rPr>
              <a:t>Dados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9144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ingesta, validação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coerência por rail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298448" y="2295144"/>
            <a:ext cx="1554480" cy="0"/>
          </a:xfrm>
          <a:prstGeom prst="line">
            <a:avLst/>
          </a:prstGeom>
          <a:noFill/>
          <a:ln w="16510">
            <a:solidFill>
              <a:srgbClr val="00C2F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011680"/>
            <a:ext cx="566928" cy="566928"/>
          </a:xfrm>
          <a:prstGeom prst="ellipse">
            <a:avLst/>
          </a:prstGeom>
          <a:solidFill>
            <a:srgbClr val="2FE3C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E3C4"/>
                </a:solidFill>
              </a:rPr>
              <a:t>Detecção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28600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regras + ML score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fila priorizada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493008" y="2295144"/>
            <a:ext cx="1554480" cy="0"/>
          </a:xfrm>
          <a:prstGeom prst="line">
            <a:avLst/>
          </a:prstGeom>
          <a:noFill/>
          <a:ln w="16510">
            <a:solidFill>
              <a:srgbClr val="2FE3C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74920" y="2011680"/>
            <a:ext cx="566928" cy="566928"/>
          </a:xfrm>
          <a:prstGeom prst="ellipse">
            <a:avLst/>
          </a:prstGeom>
          <a:solidFill>
            <a:srgbClr val="9B6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9B6DFF"/>
                </a:solidFill>
              </a:rPr>
              <a:t>Investigação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448056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entidade 360°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timeline, evidências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687568" y="2295144"/>
            <a:ext cx="1554480" cy="0"/>
          </a:xfrm>
          <a:prstGeom prst="line">
            <a:avLst/>
          </a:prstGeom>
          <a:noFill/>
          <a:ln w="16510">
            <a:solidFill>
              <a:srgbClr val="9B6D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2011680"/>
            <a:ext cx="566928" cy="566928"/>
          </a:xfrm>
          <a:prstGeom prst="ellipse">
            <a:avLst/>
          </a:prstGeom>
          <a:solidFill>
            <a:srgbClr val="F5B1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5B14C"/>
                </a:solidFill>
              </a:rPr>
              <a:t>Reporte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67512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SAR draft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JSON estruturado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882128" y="2295144"/>
            <a:ext cx="1554480" cy="0"/>
          </a:xfrm>
          <a:prstGeom prst="line">
            <a:avLst/>
          </a:prstGeom>
          <a:noFill/>
          <a:ln w="16510">
            <a:solidFill>
              <a:srgbClr val="F5B14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64040" y="2011680"/>
            <a:ext cx="566928" cy="566928"/>
          </a:xfrm>
          <a:prstGeom prst="ellipse">
            <a:avLst/>
          </a:prstGeom>
          <a:solidFill>
            <a:srgbClr val="FF5E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2770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5E8A"/>
                </a:solidFill>
              </a:rPr>
              <a:t>Compliance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886968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BACEN/COAF/FATF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A9B8C7"/>
                </a:solidFill>
              </a:rPr>
              <a:t>sanções, SLA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85800" y="46177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CONTROLE</a:t>
            </a:r>
            <a:endParaRPr lang="en-US" sz="550" dirty="0"/>
          </a:p>
        </p:txBody>
      </p:sp>
      <p:sp>
        <p:nvSpPr>
          <p:cNvPr id="29" name="Text 27"/>
          <p:cNvSpPr/>
          <p:nvPr/>
        </p:nvSpPr>
        <p:spPr>
          <a:xfrm>
            <a:off x="685800" y="4892040"/>
            <a:ext cx="49377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não decide sozinho; organiza evidências e padroniza narrativa.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recebe uma saída estruturada da etapa anterior.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humana e trilha de auditoria continuam obrigatórias.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0" y="46177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B6DFF"/>
                </a:solidFill>
              </a:rPr>
              <a:t>ENTREGA</a:t>
            </a:r>
            <a:endParaRPr lang="en-US" sz="550" dirty="0"/>
          </a:p>
        </p:txBody>
      </p:sp>
      <p:sp>
        <p:nvSpPr>
          <p:cNvPr id="31" name="Text 29"/>
          <p:cNvSpPr/>
          <p:nvPr/>
        </p:nvSpPr>
        <p:spPr>
          <a:xfrm>
            <a:off x="7315200" y="4892040"/>
            <a:ext cx="3931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+ workflow run + JSON + diagrama Mermaid + script Python</a:t>
            </a:r>
            <a:endParaRPr lang="en-US" sz="11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Reprodutibilidade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Reprodutibilidade do case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Notebooks 01/02 mostram o raciocínio passo a passo; scripts concentram a lógica operacional.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NOTEBOOKS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29184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01_eda.ipynb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leitura da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shapes, nulos, duplicatas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coerência por rail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sinais AML e gráficos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02_rules.ipynb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enriquecimento KYC/merchant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regras demonstrativas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ranking e label fraco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validação dos outputs T1/T2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280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SCRIPTS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4480560" y="1600200"/>
            <a:ext cx="2926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src/rules.py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src/alerts.py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src/features.py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src/ml_model.py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src/agents.py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src/utils.py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35240" y="12801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9B6DFF"/>
                </a:solidFill>
              </a:rPr>
              <a:t>GOVERNANÇA DO REPO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7635240" y="1600200"/>
            <a:ext cx="35204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random_state=42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requirements.txt com versões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tags por etapa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e docs por tarefa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CSV/PNG/MD auditáveis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 e PDF final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77240" y="579729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D166"/>
                </a:solidFill>
              </a:rPr>
              <a:t>Checkpoint final enriquecido: v1.2 notebooks + v1.1 grafo SAR + v1.0 geo-salto + v0.9 PPTX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84264"/>
            <a:ext cx="12191695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6519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Fechamento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0149840" y="65196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A9B8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Institution AML-FT Case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84048" y="29260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Conclusão: solução defensável e evolutiva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7315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C7"/>
                </a:solidFill>
              </a:rPr>
              <a:t>A entrega já atende ao escopo; os enriquecimentos adicionam robustez, visualização e defesa técnica.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2FE3C4"/>
                </a:solidFill>
              </a:rPr>
              <a:t>O QUE A ENTREGA DEMONSTRA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5029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Raciocínio AML completo: detecção, explicação, SAR e recomendação.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Combinação de sinais KYC, transação, rail, país, MCC, device/IP e geo-salto.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de regras auditável e modelo ML como priorizador.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Multi-agente LLM para padronizar investigação e reporte.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29400" y="13258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5B14C"/>
                </a:solidFill>
              </a:rPr>
              <a:t>LIMITAÇÕES ASSUMIDAS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629400" y="1600200"/>
            <a:ext cx="46634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sintética e ausência de label real de investigação.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campo explícito de operação em espécie/cash.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Geo-salto depende de qualidade da geolocalização.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precisa de calibragem com histórico real antes de produção.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C2FF"/>
                </a:solidFill>
              </a:rPr>
              <a:t>FRASE FINAL</a:t>
            </a:r>
            <a:endParaRPr lang="en-US" sz="550" dirty="0"/>
          </a:p>
        </p:txBody>
      </p:sp>
      <p:sp>
        <p:nvSpPr>
          <p:cNvPr id="13" name="Text 11"/>
          <p:cNvSpPr/>
          <p:nvPr/>
        </p:nvSpPr>
        <p:spPr>
          <a:xfrm>
            <a:off x="640080" y="52303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BFF"/>
                </a:solidFill>
              </a:rPr>
              <a:t>“Transformei dados brutos em uma fila AML auditável, explicável e priorizada.”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Financial Institution AML-FT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Investigação AML-FT ponta a ponta</dc:title>
  <dc:subject>Financial Institution AML-FT Case</dc:subject>
  <dc:creator>Case Author</dc:creator>
  <cp:lastModifiedBy>Case Author</cp:lastModifiedBy>
  <cp:revision>1</cp:revision>
  <dcterms:created xsi:type="dcterms:W3CDTF">2026-06-17T23:20:17Z</dcterms:created>
  <dcterms:modified xsi:type="dcterms:W3CDTF">2026-06-17T23:20:17Z</dcterms:modified>
</cp:coreProperties>
</file>