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dizendo que o case foi tratado como uma investigação AML orientada a dados: validação da base, regras auditáveis, fila de suspeitos, SAR, ML e proposta multi-agente.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solução não é uma coleção de scripts soltos; é uma esteira AML: dados, detecção, investigação, reporte e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a base foi validada antes das regras. O ponto importante é que os rails têm natureza distinta e isso evita comparação injusta.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EDA não conclui suspeita; ela aponta sinais. A investigação prioriza casos em que sinais independentes se sobrepõem.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que os rankings não foram por valor isolado. Foram por combinação: regras, score, KYC, país de risco, sanções e comportamento acumulado.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C101208 foi escolhido porque combina evidências, materialidade e timeline. Reforçar que SAR é comunicação de suspeita, não prova de crime.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a T2 supera o mínimo do desafio. A prioridade vem da combinação de regras, e cada regra tem exemplo real na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conservador: métricas altas são esperadas porque o label vem das regras. O modelo serve para priorizar, não para substituir o analista.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trade-off precision/recall/FPR e depois SHAP. Explicar que features de país de risco, volume, MCC e renda têm forte influência no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o desafio aceita agente como papel/prompt. O valor está em dividir o ciclo AML em etapas com entradas e saídas claras.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repo conta a história sozinho. Há tags por etapa, relatório, notebooks, scripts, outputs e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segurança: o case não promete produção perfeita, mas mostra raciocínio, explicabilidade e visão de produto 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22D3EE">
              <a:alpha val="12000"/>
            </a:srgbClr>
          </a:solidFill>
          <a:ln w="63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21208"/>
            <a:ext cx="1591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D3EE"/>
                </a:solidFill>
              </a:rPr>
              <a:t>AML-FT • CloudWalk Case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Investigação AML-FT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ponta a ponta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585216" y="2788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EDA → regras explicáveis → suspeitos + SAR → ML → multi-agente LLM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75320" y="914400"/>
            <a:ext cx="2926080" cy="2926080"/>
          </a:xfrm>
          <a:prstGeom prst="arc">
            <a:avLst/>
          </a:prstGeom>
          <a:solidFill>
            <a:srgbClr val="0B1220">
              <a:alpha val="0"/>
            </a:srgbClr>
          </a:solidFill>
          <a:ln w="508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5727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52k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732520" y="21214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transações analisadas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</a:rPr>
              <a:t>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732520" y="3218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regras AML formalizadas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" y="6035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Ricardo Almeida • Junho/2026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Abordagem: da base bruta à ação operacional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 valor está na conexão entre qualidade de dados, risco AML e explicabilidade.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87752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13448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26296" y="2514600"/>
            <a:ext cx="23774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84832"/>
            <a:ext cx="292608" cy="256032"/>
          </a:xfrm>
          <a:prstGeom prst="rect">
            <a:avLst/>
          </a:prstGeom>
          <a:solidFill>
            <a:srgbClr val="22D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Dados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shape, nulos,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coerência por rail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52928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2084832"/>
            <a:ext cx="292608" cy="256032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Alertas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9232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tipologias →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regras auditáveis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65776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084832"/>
            <a:ext cx="292608" cy="256032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68696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Investigação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ranking + entidade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360° + timeline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78624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2084832"/>
            <a:ext cx="292608" cy="25603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81544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SAR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24928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narrativa, evidência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 ação recomendada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91472" y="196596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084832"/>
            <a:ext cx="292608" cy="256032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94392" y="2103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ML/LLM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37776" y="2542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priorização 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orquestração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PRINCÍPIO DE DESENHO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4526280"/>
            <a:ext cx="530352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F9FAFB"/>
                </a:solidFill>
              </a:rPr>
              <a:t>Regras primeiro: mais fácil de auditar e explicar.</a:t>
            </a:r>
            <a:endParaRPr lang="en-US" sz="1500" dirty="0"/>
          </a:p>
          <a:p>
            <a:r>
              <a:rPr lang="en-US" sz="1500" dirty="0">
                <a:solidFill>
                  <a:srgbClr val="F9FAFB"/>
                </a:solidFill>
              </a:rPr>
              <a:t>ML depois: prioriza a fila, não substitui o analista.</a:t>
            </a:r>
            <a:endParaRPr lang="en-US" sz="1500" dirty="0"/>
          </a:p>
          <a:p>
            <a:r>
              <a:rPr lang="en-US" sz="1500" dirty="0">
                <a:solidFill>
                  <a:srgbClr val="F9FAFB"/>
                </a:solidFill>
              </a:rPr>
              <a:t>LLM como orquestrador: organiza evidências com revisão humana.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4160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DECISÃO CENTRAL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75120" y="4526280"/>
            <a:ext cx="4389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</a:rPr>
              <a:t>A análise evita “caixa-preta”: cada suspeito precisa ter motivo, regra acionada, evidência e recomendação.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Raciocínio investigativo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&amp; coerência por rail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Validação antes da investigação: PIX, Card e Wire têm riscos e campos diferentes.</a:t>
            </a:r>
            <a:endParaRPr lang="en-US" sz="1300" dirty="0"/>
          </a:p>
        </p:txBody>
      </p:sp>
      <p:pic>
        <p:nvPicPr>
          <p:cNvPr id="5" name="Image 0" descr="/mnt/data/ppt_assets/rail_volu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6324"/>
            <a:ext cx="5257800" cy="2848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52.000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transações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2.500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clientes KYC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0" y="1508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1.000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58400" y="1929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merchants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0" y="27889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CHECKS REALIZADOS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0" y="3154680"/>
            <a:ext cx="493776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9FAFB"/>
                </a:solidFill>
              </a:rPr>
              <a:t>Sem duplicatas críticas e timestamps válidos.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Integridade entre transações, KYC e merchants.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Campos n/a tratados como “não aplicável por rail”, não como erro.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PIX, Card e Wire avaliados separadamente para reduzir falso positivo.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• Dados e consistência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Sinais AML iniciais da EDA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EDA indicou onde valia aprofundar: sanções, PEP, país de risco, MCC, 3DS, device/IP.</a:t>
            </a:r>
            <a:endParaRPr lang="en-US" sz="1300" dirty="0"/>
          </a:p>
        </p:txBody>
      </p:sp>
      <p:pic>
        <p:nvPicPr>
          <p:cNvPr id="5" name="Image 0" descr="/mnt/data/ppt_assets/eda_signal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6246"/>
            <a:ext cx="6583680" cy="38369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417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LEITURA OPERACIONAL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589520" y="1783080"/>
            <a:ext cx="38404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9FAFB"/>
                </a:solidFill>
              </a:rPr>
              <a:t>Sinal isolado é triagem; combinação de sinais é prioridade.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39776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F9FAFB"/>
                </a:solidFill>
              </a:rPr>
              <a:t>2 transações com sanctions screening hit.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9 clientes com hit cadastral em sanções.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80 clientes PEP e 196 KYC High Risk.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E-commerce sem 3DS e MCC de risco aparecem com volume relevante.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• EDA e sinais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T1 — Ranking de suspeitos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Clientes e transações priorizados por concentração de alertas, materialidade e contexto KYC.</a:t>
            </a:r>
            <a:endParaRPr lang="en-US" sz="1300" dirty="0"/>
          </a:p>
        </p:txBody>
      </p:sp>
      <p:pic>
        <p:nvPicPr>
          <p:cNvPr id="5" name="Image 0" descr="/mnt/data/ppt_assets/top_client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8568"/>
            <a:ext cx="5760720" cy="3375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325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TOP CASOS PRIORIZADOS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2940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</a:rPr>
              <a:t>C101028 • Crítica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29400" y="2057400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Sanções KYC + PEP + cross-border + e-commerce sem 3DS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29400" y="2816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C101208 • Crítica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29400" y="3136392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Sanctions tx + Wire/país alto risco + fora de perfil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29400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</a:rPr>
              <a:t>C100091 • Crítica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4215384"/>
            <a:ext cx="4389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Wire para IR + hit sanções na transação + alto valor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29400" y="5166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FAFB"/>
                </a:solidFill>
              </a:rPr>
              <a:t>Entrega: top 30 transações + top 30 clientes + SAR draft.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• Suspeitos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SAR escolhido — C101208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Caso com materialidade, timeline investigável e combinação de sinais transacionais + comportamentais.</a:t>
            </a:r>
            <a:endParaRPr lang="en-US" sz="1300" dirty="0"/>
          </a:p>
        </p:txBody>
      </p:sp>
      <p:pic>
        <p:nvPicPr>
          <p:cNvPr id="5" name="Image 0" descr="/mnt/data/ppt_assets/sar_timelin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1647"/>
            <a:ext cx="5760720" cy="29260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1325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R$162k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720840" y="17465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volume total no período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144000" y="1325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34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0" y="17465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transações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37844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20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378440" y="1746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transações suspeitas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20840" y="26060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SINAIS DO SAR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20840" y="2971800"/>
            <a:ext cx="45262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F9FAFB"/>
                </a:solidFill>
              </a:rPr>
              <a:t>Sanctions screening hit em transação Wire.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Receiver em país de alto risco (SY).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Cross-border e alto volume vs. renda declarada.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SAR não afirma crime: comunica suspeita fundamentada.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5800" y="55778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9FAFB"/>
                </a:solidFill>
              </a:rPr>
              <a:t>Ação recomendada: revisão EDD/KYC, validação de contraparte/listas e escalonamento para Compliance.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• SAR completo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T2 — Sistema de alertas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28 regras formais: lógica, parâmetros, severidade, exemplo na base, justificativa e ação operacional.</a:t>
            </a:r>
            <a:endParaRPr lang="en-US" sz="1300" dirty="0"/>
          </a:p>
        </p:txBody>
      </p:sp>
      <p:pic>
        <p:nvPicPr>
          <p:cNvPr id="5" name="Image 0" descr="/mnt/data/ppt_assets/rule_coverag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49989"/>
            <a:ext cx="6126480" cy="32665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13258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28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78040" y="17465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regras formalizadas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915400" y="1325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16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915400" y="17465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transacionais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287000" y="1325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12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287000" y="17465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cliente-mês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78040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EXEMPLOS DE REGRAS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178040" y="2971800"/>
            <a:ext cx="434340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10" dirty="0">
                <a:solidFill>
                  <a:srgbClr val="F9FAFB"/>
                </a:solidFill>
              </a:rPr>
              <a:t>Sanctions hit e cliente em lista de sanções.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Wire/cross-border para país de alto risco.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PEP com cross-border ou alto valor.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E-commerce sem 3DS + MCC/merchant de risco.</a:t>
            </a:r>
            <a:endParaRPr lang="en-US" sz="1310" dirty="0"/>
          </a:p>
          <a:p>
            <a:r>
              <a:rPr lang="en-US" sz="1310" dirty="0">
                <a:solidFill>
                  <a:srgbClr val="F9FAFB"/>
                </a:solidFill>
              </a:rPr>
              <a:t>Fora de perfil, velocity, valores redondos e conta de passagem.</a:t>
            </a:r>
            <a:endParaRPr lang="en-US" sz="131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Motor de regras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T3 — Modelo de ML como priorizador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Label fraco baseado em regras: cliente-mês com ≥3 regras acionadas = suspeito.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DESENHO DO MODELO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48920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70" dirty="0">
                <a:solidFill>
                  <a:srgbClr val="F9FAFB"/>
                </a:solidFill>
              </a:rPr>
              <a:t>Unidade de análise: cliente-mês PF.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Split temporal: treino jul–ago/2025; validação set–out/2025.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Modelo: XGBoost com random_state=42.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Features cadastrais, transacionais e comparação por profissão.</a:t>
            </a:r>
            <a:endParaRPr lang="en-US" sz="1370" dirty="0"/>
          </a:p>
          <a:p>
            <a:r>
              <a:rPr lang="en-US" sz="1370" dirty="0">
                <a:solidFill>
                  <a:srgbClr val="F9FAFB"/>
                </a:solidFill>
              </a:rPr>
              <a:t>Sem vender como produção: baseline explicável de priorização.</a:t>
            </a: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644652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MÉTRICAS DE VALIDAÇÃO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4652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0,9416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46520" y="2066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AUC-PR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9244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0,9970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92440" y="20665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AUC-ROC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29800" y="1645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0,90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829800" y="2066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threshold sugerido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0,924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46520" y="3300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precision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2880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</a:rPr>
              <a:t>0,772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92440" y="33009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recall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29800" y="2880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</a:rPr>
              <a:t>0,003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29800" y="33009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FPR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Leitura correta: o resultado é forte para ranking, mas precisa de validação humana/histórica antes de produção.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ML e métricas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Explicabilidade &amp; corte operacional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decisão de threshold precisa considerar risco, falso positivo e capacidade do time.</a:t>
            </a:r>
            <a:endParaRPr lang="en-US" sz="1300" dirty="0"/>
          </a:p>
        </p:txBody>
      </p:sp>
      <p:pic>
        <p:nvPicPr>
          <p:cNvPr id="5" name="Image 0" descr="/mnt/data/ppt_assets/threshold_tradeoff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3246"/>
            <a:ext cx="5349240" cy="3122908"/>
          </a:xfrm>
          <a:prstGeom prst="rect">
            <a:avLst/>
          </a:prstGeom>
        </p:spPr>
      </p:pic>
      <p:pic>
        <p:nvPicPr>
          <p:cNvPr id="6" name="Image 1" descr="/mnt/data/ppt_assets/sha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33835"/>
            <a:ext cx="5166360" cy="31446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566928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Mensagem-chave: AML não usa threshold só por métrica; usa por capacidade operacional, apetite de risco e SLA.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• Explicabilidade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T4 — Arquitetura multi-agente LLM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Script sequencial: cada agente é um papel/prompt, com entrada, saída e auditoria.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9744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013448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17152" y="2331720"/>
            <a:ext cx="173736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D3EE"/>
                </a:solidFill>
              </a:rPr>
              <a:t>Dados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8952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ingesta, schema,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coerência por rail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2798064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</a:rPr>
              <a:t>Detecção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62656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regras + ML score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fila priorizada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01768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78BFA"/>
                </a:solidFill>
              </a:rPr>
              <a:t>Investigação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66360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entidade 360°,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timeline, evidências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205472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9E0B"/>
                </a:solidFill>
              </a:rPr>
              <a:t>Reporte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370064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SAR markdown +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JSON estruturado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9409176" y="1828800"/>
            <a:ext cx="1993392" cy="1325880"/>
          </a:xfrm>
          <a:prstGeom prst="roundRect">
            <a:avLst>
              <a:gd name="adj" fmla="val 5517"/>
            </a:avLst>
          </a:prstGeom>
          <a:solidFill>
            <a:srgbClr val="172033"/>
          </a:solidFill>
          <a:ln w="15240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18904" y="19751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B7185"/>
                </a:solidFill>
              </a:rPr>
              <a:t>Compliance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73768" y="23957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BACEN/COAF/FATF,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CBD5E1"/>
                </a:solidFill>
              </a:rPr>
              <a:t>sanções, SLA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CONTROLE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" y="4590288"/>
            <a:ext cx="5212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F9FAFB"/>
                </a:solidFill>
              </a:rPr>
              <a:t>LLM não decide sozinho; organiza evidências e padroniza narrativa.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Cada etapa recebe uma saída estruturada da etapa anterior.</a:t>
            </a:r>
            <a:endParaRPr lang="en-US" sz="1350" dirty="0"/>
          </a:p>
          <a:p>
            <a:r>
              <a:rPr lang="en-US" sz="1350" dirty="0">
                <a:solidFill>
                  <a:srgbClr val="F9FAFB"/>
                </a:solidFill>
              </a:rPr>
              <a:t>Revisão humana e trilha de auditoria continuam obrigatórias.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83680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ENTREGAS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0" y="4608576"/>
            <a:ext cx="43891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prompts + workflow run + JSON + diagrama Mermaid + script Python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• Multi-agente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Entregáveis &amp; reprodutibilidade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 repo foi versionado por checkpoints, com documentação para navegar e defender cada etapa.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ARTEFATOS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53949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40" dirty="0">
                <a:solidFill>
                  <a:srgbClr val="F9FAFB"/>
                </a:solidFill>
              </a:rPr>
              <a:t>Relatório PDF 5 páginas: reports/AML_FT_Case_Report.pdf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Notebooks: 01_eda, 02_rules, 03_ml, 04_agents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Scripts: rules, alerts, features, ml_model, agents, utils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Outputs CSV/PNG/MD por etapa em outputs/</a:t>
            </a:r>
            <a:endParaRPr lang="en-US" sz="1340" dirty="0"/>
          </a:p>
          <a:p>
            <a:r>
              <a:rPr lang="en-US" sz="1340" dirty="0">
                <a:solidFill>
                  <a:srgbClr val="F9FAFB"/>
                </a:solidFill>
              </a:rPr>
              <a:t>Roteiro e Q&amp;A para apresentação em presentation/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CHECKPOINTS GIT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29400" y="1700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v0.1 EDA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629400" y="21396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v0.2 Suspeitos + SAR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62940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v0.3 Sistema de alertas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629400" y="30175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v0.4 ML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629400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9FAFB"/>
                </a:solidFill>
              </a:rPr>
              <a:t>v0.5 Multi-agente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629400" y="3895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2D3EE"/>
                </a:solidFill>
              </a:rPr>
              <a:t>v0.8 Delivery-ready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9FAFB"/>
                </a:solidFill>
              </a:rPr>
              <a:t>Reprodutibilidade: random_state=42, requirements.txt com versões e documentação de decisões/trade-offs.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Entrega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Conclusão: solução defensável e evolutiva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entrega já atende ao escopo; próximos passos são polimentos de robustez e visualização.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</a:rPr>
              <a:t>O QUE A ENTREGA DEMONSTRA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21208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9FAFB"/>
                </a:solidFill>
              </a:rPr>
              <a:t>Raciocínio AML completo: detecção, explicação, SAR e recomendação.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Combinação de sinais KYC, transação, rail, país, MCC, device/IP e merchant.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Motor de regras auditável e modelo ML como priorizador.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Arquitetura multi-agente simples, prática e alinhada ao desafio.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LIMITAÇÕES ASSUMIDAS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9377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9FAFB"/>
                </a:solidFill>
              </a:rPr>
              <a:t>Base sintética e ausência de label final de investigação.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Sem campo explícito de operação em espécie/cash.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Device/IP quase únicos limitam análise de ring literal.</a:t>
            </a:r>
            <a:endParaRPr lang="en-US" sz="1400" dirty="0"/>
          </a:p>
          <a:p>
            <a:r>
              <a:rPr lang="en-US" sz="1400" dirty="0">
                <a:solidFill>
                  <a:srgbClr val="F9FAFB"/>
                </a:solidFill>
              </a:rPr>
              <a:t>Modelo precisa de calibragem com histórico real antes de produção.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3708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Frase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36592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9FAFB"/>
                </a:solidFill>
              </a:rPr>
              <a:t>“Transformei dados brutos em uma fila AML auditável, explicável e priorizada.”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02920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Fechamento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0" y="6419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 AML-FT Case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AML-FT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CloudWalk AML-FT Case — Investigação, Alertas, ML e Multi-agente</dc:title>
  <dc:subject>CloudWalk AML-FT Case</dc:subject>
  <dc:creator>Ricardo Almeida</dc:creator>
  <cp:lastModifiedBy>Ricardo Almeida</cp:lastModifiedBy>
  <cp:revision>1</cp:revision>
  <dcterms:created xsi:type="dcterms:W3CDTF">2026-06-17T21:48:19Z</dcterms:created>
  <dcterms:modified xsi:type="dcterms:W3CDTF">2026-06-17T21:48:19Z</dcterms:modified>
</cp:coreProperties>
</file>